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>
        <p:scale>
          <a:sx n="105" d="100"/>
          <a:sy n="105" d="100"/>
        </p:scale>
        <p:origin x="176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361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find your seat</a:t>
            </a:r>
            <a:endParaRPr lang="en-US" sz="3800" dirty="0"/>
          </a:p>
        </p:txBody>
      </p:sp>
      <p:pic>
        <p:nvPicPr>
          <p:cNvPr id="3" name="Image 0" descr="/sessions/zen-modest-newton/mnt/nhsengineering/assets/class01-welcome/s03-seating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67" y="1600200"/>
            <a:ext cx="948558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zen-modest-newton/mnt/nhsengineering/slides/.build/s28-breadboard-prototype_6.43x7.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 in</a:t>
            </a:r>
            <a:endParaRPr lang="en-US" sz="48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4709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Salemi  ·  Natick High School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December, you will have built this.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691640"/>
            <a:ext cx="3429000" cy="37947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zen-modest-newton/mnt/nhsengineering/guides/unit01/images/e09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81027"/>
            <a:ext cx="2971800" cy="251306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48646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Simon game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498848" y="1691640"/>
            <a:ext cx="3429000" cy="37947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1" descr="/sessions/zen-modest-newton/mnt/nhsengineering/guides/unit01/images/e08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724014"/>
            <a:ext cx="2971800" cy="12270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27448" y="48646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 that says hello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311896" y="1691640"/>
            <a:ext cx="3429000" cy="37947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2" descr="/sessions/zen-modest-newton/mnt/nhsengineering/guides/unit01/images/e07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496" y="2687370"/>
            <a:ext cx="2971800" cy="130037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540496" y="48646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synthesizer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57150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model of one. A working one, on your bench, running code you wrote.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Salemi (and Mae)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2880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Engineer, 1985–2022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years designing hardware and software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8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UMass Amherst — Computer Engineering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Babson College — MBA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8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author</a:t>
            </a:r>
            <a:endParaRPr lang="en-US" sz="19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Tucker Mysteries, and books on engineering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086600" y="1691640"/>
            <a:ext cx="44348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sessions/zen-modest-newton/mnt/nhsengineering/slides/.build/s04-salemi-and-mae_4.35x3.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920240"/>
            <a:ext cx="39776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facts</a:t>
            </a:r>
            <a:endParaRPr lang="en-US" sz="3400" dirty="0"/>
          </a:p>
        </p:txBody>
      </p:sp>
      <p:pic>
        <p:nvPicPr>
          <p:cNvPr id="3" name="Image 0" descr="/sessions/zen-modest-newton/mnt/nhsengineering/slides/.build/s21-engineering-is-fun_5.70x3.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63040"/>
            <a:ext cx="521208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57200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is fun.</a:t>
            </a:r>
            <a:endParaRPr lang="en-US" sz="2800" dirty="0"/>
          </a:p>
        </p:txBody>
      </p:sp>
      <p:pic>
        <p:nvPicPr>
          <p:cNvPr id="5" name="Image 1" descr="/sessions/zen-modest-newton/mnt/nhsengineering/slides/.build/s21-engineering-is-not-easy_5.70x3.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63040"/>
            <a:ext cx="5212080" cy="2926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263640" y="457200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is not easy.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 at the same time. That is the whole class.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how most classes work.</a:t>
            </a:r>
            <a:endParaRPr lang="en-US" sz="3800" dirty="0"/>
          </a:p>
        </p:txBody>
      </p:sp>
      <p:pic>
        <p:nvPicPr>
          <p:cNvPr id="3" name="Image 0" descr="/sessions/zen-modest-newton/mnt/nhsengineering/assets/class01-welcome/s20-problem-fail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4114800" cy="4114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49240" y="1691640"/>
            <a:ext cx="61264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623560" y="185623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are used to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2295144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problem you already know how to solve.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49240" y="3840480"/>
            <a:ext cx="61264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623560" y="400507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4443984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it. It does not work.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out why. Fix it. It still does not work.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 again. Now it works — and you know why.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 Three kinds of engineering.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69164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/sessions/zen-modest-newton/mnt/nhsengineering/slides/.build/s22-discipline-electronics_3.25x1.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2971800" cy="1691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3703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42245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it. Build it. Make it blink, buzz, and play.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98848" y="169164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/sessions/zen-modest-newton/mnt/nhsengineering/slides/.build/s22-discipline-software-pm_3.25x1.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920240"/>
            <a:ext cx="297180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27448" y="3703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4727448" y="42245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727448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spec. Make an AI build it. Test what it gives you.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311896" y="169164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/sessions/zen-modest-newton/mnt/nhsengineering/slides/.build/s22-discipline-robotics_3.25x1.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496" y="1920240"/>
            <a:ext cx="2971800" cy="16916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40496" y="3703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8540496" y="42245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something move on purpose.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class is for you if…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13232" y="1892808"/>
            <a:ext cx="566928" cy="566928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13232" y="1892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8745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curious whether engineering is a career you want.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3127248"/>
            <a:ext cx="566928" cy="566928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13232" y="3127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108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like the moment something finally works.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13232" y="4361688"/>
            <a:ext cx="566928" cy="566928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13232" y="4361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43434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willing to be stuck for twenty minutes and keep going.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766560" y="1737360"/>
            <a:ext cx="47548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/sessions/zen-modest-newton/mnt/nhsengineering/guides/unit01/images/e06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962" y="1965960"/>
            <a:ext cx="3282076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is not for everyone.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10312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phone is in the holder every period.</a:t>
            </a:r>
            <a:endParaRPr lang="en-US" sz="26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stuck, and being stuck is the job — not a sign you are failing.</a:t>
            </a:r>
            <a:endParaRPr lang="en-US" sz="26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is graded on whether it works.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7091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that is not the class you were hoping for, there is still time to switch.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 feelings. I would rather you find the right room than spend a term in the wrong one.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an engineer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031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does this for a living.</a:t>
            </a:r>
            <a:endParaRPr lang="en-US" sz="20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8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0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20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then tell me one thing about the job that surprised you.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0" y="1691640"/>
            <a:ext cx="6492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sessions/zen-modest-newton/mnt/nhsengineering/assets/class01-welcome/s13-meet-an-engineer-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4919"/>
            <a:ext cx="6035040" cy="33768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zen-modest-newton/mnt/nhsengineering/slides/.build/s07-classroom-working_13.33x7.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31">
              <a:alpha val="5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21945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kern="0" spc="200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Rule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0175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a productive</a:t>
            </a:r>
            <a:endParaRPr lang="en-US" sz="4200" dirty="0"/>
          </a:p>
          <a:p>
            <a:pPr marL="0" indent="0" algn="ctr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environment.</a:t>
            </a:r>
            <a:endParaRPr lang="en-US" sz="4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 goes in the holder. Every class.</a:t>
            </a:r>
            <a:endParaRPr lang="en-US" sz="3800" dirty="0"/>
          </a:p>
        </p:txBody>
      </p:sp>
      <p:pic>
        <p:nvPicPr>
          <p:cNvPr id="3" name="Image 0" descr="/sessions/zen-modest-newton/mnt/nhsengineering/assets/class01-welcome/s11-phone-holder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2166103" cy="32004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15015" y="5496362"/>
            <a:ext cx="11303961" cy="4572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Your phone holder number is your Mac number</a:t>
            </a:r>
            <a:endParaRPr lang="en-US" sz="4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77815C-B5BF-8B8A-FA95-5D8C0245A7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3646" y="1706777"/>
            <a:ext cx="4240496" cy="3444446"/>
          </a:xfrm>
          <a:prstGeom prst="rect">
            <a:avLst/>
          </a:prstGeom>
        </p:spPr>
      </p:pic>
      <p:pic>
        <p:nvPicPr>
          <p:cNvPr id="16" name="Picture 15" descr="Restored Apple MacBook Air Laptop, 11&quot;, Intel Core i5, 4GB RAM, 128GB SSD, macOS 10.15 Catalina, Silver, MD223LL/A - Walmart.com">
            <a:extLst>
              <a:ext uri="{FF2B5EF4-FFF2-40B4-BE49-F238E27FC236}">
                <a16:creationId xmlns:a16="http://schemas.microsoft.com/office/drawing/2014/main" id="{BB305642-D2BD-0F3E-96A4-866826739C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9768" y="1801460"/>
            <a:ext cx="3072199" cy="3072199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AFDC6CC7-B4D8-CCF1-5096-30C10BE73575}"/>
              </a:ext>
            </a:extLst>
          </p:cNvPr>
          <p:cNvSpPr/>
          <p:nvPr/>
        </p:nvSpPr>
        <p:spPr>
          <a:xfrm>
            <a:off x="9304637" y="2848850"/>
            <a:ext cx="420130" cy="42013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C7881526-7B2F-2199-18DA-3AB274404DE1}"/>
              </a:ext>
            </a:extLst>
          </p:cNvPr>
          <p:cNvSpPr/>
          <p:nvPr/>
        </p:nvSpPr>
        <p:spPr>
          <a:xfrm>
            <a:off x="766119" y="1161535"/>
            <a:ext cx="5931243" cy="976184"/>
          </a:xfrm>
          <a:custGeom>
            <a:avLst/>
            <a:gdLst>
              <a:gd name="csX0" fmla="*/ 0 w 5931243"/>
              <a:gd name="csY0" fmla="*/ 976184 h 976184"/>
              <a:gd name="csX1" fmla="*/ 2594919 w 5931243"/>
              <a:gd name="csY1" fmla="*/ 0 h 976184"/>
              <a:gd name="csX2" fmla="*/ 5931243 w 5931243"/>
              <a:gd name="csY2" fmla="*/ 976184 h 976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31243" h="976184">
                <a:moveTo>
                  <a:pt x="0" y="976184"/>
                </a:moveTo>
                <a:cubicBezTo>
                  <a:pt x="803189" y="488092"/>
                  <a:pt x="1606379" y="0"/>
                  <a:pt x="2594919" y="0"/>
                </a:cubicBezTo>
                <a:cubicBezTo>
                  <a:pt x="3583459" y="0"/>
                  <a:pt x="4757351" y="488092"/>
                  <a:pt x="5931243" y="976184"/>
                </a:cubicBezTo>
              </a:path>
            </a:pathLst>
          </a:custGeom>
          <a:ln w="60325" cap="flat" cmpd="sng" algn="ctr">
            <a:solidFill>
              <a:schemeClr val="accent1"/>
            </a:solidFill>
            <a:prstDash val="solid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0C961290-CC60-333B-CF17-8362D89D71A4}"/>
              </a:ext>
            </a:extLst>
          </p:cNvPr>
          <p:cNvSpPr/>
          <p:nvPr/>
        </p:nvSpPr>
        <p:spPr>
          <a:xfrm flipH="1">
            <a:off x="7129848" y="1313934"/>
            <a:ext cx="2236572" cy="1528121"/>
          </a:xfrm>
          <a:custGeom>
            <a:avLst/>
            <a:gdLst>
              <a:gd name="csX0" fmla="*/ 0 w 6099745"/>
              <a:gd name="csY0" fmla="*/ 1810821 h 1810821"/>
              <a:gd name="csX1" fmla="*/ 2763421 w 6099745"/>
              <a:gd name="csY1" fmla="*/ 0 h 1810821"/>
              <a:gd name="csX2" fmla="*/ 6099745 w 6099745"/>
              <a:gd name="csY2" fmla="*/ 976184 h 18108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9745" h="1810821">
                <a:moveTo>
                  <a:pt x="0" y="1810821"/>
                </a:moveTo>
                <a:cubicBezTo>
                  <a:pt x="803189" y="1322729"/>
                  <a:pt x="1774881" y="0"/>
                  <a:pt x="2763421" y="0"/>
                </a:cubicBezTo>
                <a:cubicBezTo>
                  <a:pt x="3751961" y="0"/>
                  <a:pt x="4925853" y="488092"/>
                  <a:pt x="6099745" y="976184"/>
                </a:cubicBezTo>
              </a:path>
            </a:pathLst>
          </a:custGeom>
          <a:ln w="60325" cap="flat" cmpd="sng" algn="ctr">
            <a:solidFill>
              <a:schemeClr val="accent1"/>
            </a:solidFill>
            <a:prstDash val="solid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zen-modest-newton/mnt/nhsengineering/assets/class01-welcome/s12-no-phones-barad-du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548640"/>
            <a:ext cx="4320540" cy="5760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7432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phones.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023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eye is always watching.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to the end.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0312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400"/>
              </a:lnSpc>
              <a:buNone/>
            </a:pPr>
            <a:r>
              <a:rPr lang="en-US" sz="22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relaxation time, stay at your table and relax.</a:t>
            </a:r>
            <a:endParaRPr lang="en-US" sz="2200" dirty="0"/>
          </a:p>
          <a:p>
            <a:pPr marL="0" indent="0">
              <a:lnSpc>
                <a:spcPts val="3400"/>
              </a:lnSpc>
              <a:buNone/>
            </a:pPr>
            <a:r>
              <a:rPr lang="en-US" sz="8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200" dirty="0"/>
          </a:p>
          <a:p>
            <a:pPr marL="0" indent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hanging by the door.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309360" y="16916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sessions/zen-modest-newton/mnt/nhsengineering/assets/class01-welcome/s08-patience-quo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68880"/>
            <a:ext cx="475488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Grading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73736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461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it works.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98848" y="173736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727448" y="196596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727448" y="32461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— or a redo that comes back right.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11896" y="173736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540496" y="196596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540496" y="32461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you never finish it.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52628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that is not working yet comes back to you as a redo, as many times as it takes, and is worth 18 once it is right. Show both halves — the simulation and the real circuit — to get it checked off.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has a submission document.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0116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questions in it.</a:t>
            </a:r>
            <a:endParaRPr lang="en-US" sz="2000" dirty="0"/>
          </a:p>
          <a:p>
            <a:pPr marL="0" indent="0">
              <a:lnSpc>
                <a:spcPts val="3200"/>
              </a:lnSpc>
              <a:buNone/>
            </a:pPr>
            <a:r>
              <a:rPr lang="en-US" sz="8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000" dirty="0"/>
          </a:p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2B2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document to get credit. A project that is built but not submitted is not finished.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035040" y="16916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sessions/zen-modest-newton/mnt/nhsengineering/assets/class01-welcome/s02-submission-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104" y="1920240"/>
            <a:ext cx="2994273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 Google Classroom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kern="0" spc="400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cxb74f63</a:t>
            </a:r>
            <a:endParaRPr lang="en-US" sz="9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Tinkercad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your account.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37360" y="2194560"/>
            <a:ext cx="8686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sessions/zen-modest-newton/mnt/nhsengineering/assets/class01-welcome/s30-tinkercad-classr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783995"/>
            <a:ext cx="8229600" cy="238728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B2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00: Set up your Arduino IDE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Arduino blink.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37360" y="2194560"/>
            <a:ext cx="8686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3E5E8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E5117F-EA61-B235-99BB-7687E8C7CA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86" t="15889" r="7604" b="13784"/>
          <a:stretch>
            <a:fillRect/>
          </a:stretch>
        </p:blipFill>
        <p:spPr>
          <a:xfrm>
            <a:off x="3163329" y="2320599"/>
            <a:ext cx="6203093" cy="344012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2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88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is fun.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32004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is not easy.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on keyboards.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608</Words>
  <Application>Microsoft Macintosh PowerPoint</Application>
  <PresentationFormat>Widescreen</PresentationFormat>
  <Paragraphs>112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Themes in Engineering - Class 01 Welcome</dc:title>
  <dc:subject>PptxGenJS Presentation</dc:subject>
  <dc:creator>Ray Salemi</dc:creator>
  <cp:lastModifiedBy>Ray Salemi</cp:lastModifiedBy>
  <cp:revision>2</cp:revision>
  <dcterms:created xsi:type="dcterms:W3CDTF">2026-08-26T23:15:42Z</dcterms:created>
  <dcterms:modified xsi:type="dcterms:W3CDTF">2026-08-26T23:29:59Z</dcterms:modified>
</cp:coreProperties>
</file>